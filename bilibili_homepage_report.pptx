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26746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ingFang SC"/>
                <a:ea typeface="PingFang SC"/>
              </a:rPr>
              <a:t>首页视频标题整理 · 结构分析 · 亮点与结论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CCDD"/>
                </a:solidFill>
                <a:latin typeface="PingFang SC"/>
                <a:ea typeface="PingFang SC"/>
              </a:rPr>
              <a:t>采集时间：2026-08-04 14:32  |  共 29 条展示内容  |  附件 Excel / Word 同源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PingFang SC"/>
                <a:ea typeface="PingFang SC"/>
              </a:rPr>
              <a:t>基于 bilibili.com 首页浏览结果整理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09728" cy="822960"/>
          </a:xfrm>
          <a:prstGeom prst="rect">
            <a:avLst/>
          </a:prstGeom>
          <a:solidFill>
            <a:srgbClr val="FB7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ingFang SC"/>
                <a:ea typeface="PingFang SC"/>
              </a:rPr>
              <a:t>目录 CONTENTS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474720" cy="1920240"/>
          </a:xfrm>
          <a:prstGeom prst="roundRect">
            <a:avLst>
              <a:gd name="adj" fmla="val 10000"/>
            </a:avLst>
          </a:prstGeom>
          <a:solidFill>
            <a:srgbClr val="E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A1D6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PingFang SC"/>
                <a:ea typeface="PingFang SC"/>
              </a:rPr>
              <a:t>项目概述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  <a:ea typeface="PingFang SC"/>
              </a:rPr>
              <a:t>来源、范围与说明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74720" cy="1920240"/>
          </a:xfrm>
          <a:prstGeom prst="roundRect">
            <a:avLst>
              <a:gd name="adj" fmla="val 10000"/>
            </a:avLst>
          </a:prstGeom>
          <a:solidFill>
            <a:srgbClr val="FF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7299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PingFang SC"/>
                <a:ea typeface="PingFang SC"/>
              </a:rPr>
              <a:t>内容结构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  <a:ea typeface="PingFang SC"/>
              </a:rPr>
              <a:t>类型分布与占比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371600"/>
            <a:ext cx="3474720" cy="1920240"/>
          </a:xfrm>
          <a:prstGeom prst="roundRect">
            <a:avLst>
              <a:gd name="adj" fmla="val 10000"/>
            </a:avLst>
          </a:prstGeom>
          <a:solidFill>
            <a:srgbClr val="E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A1D6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PingFang SC"/>
                <a:ea typeface="PingFang SC"/>
              </a:rPr>
              <a:t>推荐亮点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  <a:ea typeface="PingFang SC"/>
              </a:rPr>
              <a:t>五类题材与代表作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3474720" cy="1920240"/>
          </a:xfrm>
          <a:prstGeom prst="roundRect">
            <a:avLst>
              <a:gd name="adj" fmla="val 10000"/>
            </a:avLst>
          </a:prstGeom>
          <a:solidFill>
            <a:srgbClr val="FF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7299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PingFang SC"/>
                <a:ea typeface="PingFang SC"/>
              </a:rPr>
              <a:t>数据表现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  <a:ea typeface="PingFang SC"/>
              </a:rPr>
              <a:t>播放量与互动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657600"/>
            <a:ext cx="3474720" cy="1920240"/>
          </a:xfrm>
          <a:prstGeom prst="roundRect">
            <a:avLst>
              <a:gd name="adj" fmla="val 10000"/>
            </a:avLst>
          </a:prstGeom>
          <a:solidFill>
            <a:srgbClr val="E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A1D6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526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PingFang SC"/>
                <a:ea typeface="PingFang SC"/>
              </a:rPr>
              <a:t>其他模块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  <a:ea typeface="PingFang SC"/>
              </a:rPr>
              <a:t>直播 / 运营 / 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3657600"/>
            <a:ext cx="3474720" cy="1920240"/>
          </a:xfrm>
          <a:prstGeom prst="roundRect">
            <a:avLst>
              <a:gd name="adj" fmla="val 10000"/>
            </a:avLst>
          </a:prstGeom>
          <a:solidFill>
            <a:srgbClr val="FF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9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7299"/>
                </a:solidFill>
                <a:latin typeface="PingFang SC"/>
                <a:ea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9" y="4526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PingFang SC"/>
                <a:ea typeface="PingFang SC"/>
              </a:rPr>
              <a:t>结论建议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9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ingFang SC"/>
                <a:ea typeface="PingFang SC"/>
              </a:rPr>
              <a:t>观察与后续方向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Bilibili 首页内容总结  ·  2026-08-04  ·  数据来源 bilibili.com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09728" cy="822960"/>
          </a:xfrm>
          <a:prstGeom prst="rect">
            <a:avLst/>
          </a:prstGeom>
          <a:solidFill>
            <a:srgbClr val="FB7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ingFang SC"/>
                <a:ea typeface="PingFang SC"/>
              </a:rPr>
              <a:t>一、项目概述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  <a:ea typeface="PingFang SC"/>
              </a:rPr>
              <a:t>数据来源与采集说明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E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A1D6"/>
                </a:solidFill>
                <a:latin typeface="PingFang SC"/>
                <a:ea typeface="PingFang SC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PingFang SC"/>
                <a:ea typeface="PingFang SC"/>
              </a:rPr>
              <a:t>条展示内容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28016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173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B7299"/>
                </a:solidFill>
                <a:latin typeface="PingFang SC"/>
                <a:ea typeface="PingFang SC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PingFang SC"/>
                <a:ea typeface="PingFang SC"/>
              </a:rPr>
              <a:t>条推荐视频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28016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4173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B59B6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1031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PingFang SC"/>
                <a:ea typeface="PingFang SC"/>
              </a:rPr>
              <a:t>类题材归纳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28016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14173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67E22"/>
                </a:solidFill>
                <a:latin typeface="PingFang SC"/>
                <a:ea typeface="PingFang SC"/>
              </a:rPr>
              <a:t>497万+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1031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PingFang SC"/>
                <a:ea typeface="PingFang SC"/>
              </a:rPr>
              <a:t>最高播放量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17520"/>
            <a:ext cx="11064240" cy="31089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1A2E"/>
                </a:solidFill>
                <a:latin typeface="PingFang SC"/>
                <a:ea typeface="PingFang SC"/>
              </a:rPr>
              <a:t>采集说明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>· 来源：https://www.bilibili.com/ 首页公开可见信息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>· 范围：推荐区、信息流、直播卡片、运营推广位、番剧/国创/综艺入口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>· 产出：Excel 明细 + Word 总结 + 本 PPT（含结构图、条形图、题材卡）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>· 注意：首页推荐具有个性化特征，不同账号/时段结果可能不同；本结果为采集当时快照，非全站统一榜单。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>· 字段：序号、标题、UP主、播放量、弹幕数、时长、发布时间、分区/类型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Bilibili 首页内容总结  ·  2026-08-04  ·  数据来源 bilibili.com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09728" cy="822960"/>
          </a:xfrm>
          <a:prstGeom prst="rect">
            <a:avLst/>
          </a:prstGeom>
          <a:solidFill>
            <a:srgbClr val="FB7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ingFang SC"/>
                <a:ea typeface="PingFang SC"/>
              </a:rPr>
              <a:t>二、内容结构分布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  <a:ea typeface="PingFang SC"/>
              </a:rPr>
              <a:t>推荐 + 运营双轨驱动</a:t>
            </a:r>
          </a:p>
        </p:txBody>
      </p:sp>
      <p:pic>
        <p:nvPicPr>
          <p:cNvPr id="8" name="Picture 7" descr="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669530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0" y="1280160"/>
            <a:ext cx="5029200" cy="48463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1A2E"/>
                </a:solidFill>
                <a:latin typeface="PingFang SC"/>
                <a:ea typeface="PingFang SC"/>
              </a:rPr>
              <a:t>结构解读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>推荐视频约占一半，是首页停留的核心。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>运营位约三成，用强钩子标题做导流与商业曝光。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>直播、番剧/国创/综艺、广告作补充，完成多场景触达。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A1A2E"/>
                </a:solidFill>
                <a:latin typeface="PingFang SC"/>
                <a:ea typeface="PingFang SC"/>
              </a:rPr>
              <a:t>结论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>首页以「个性化推荐 + 平台运营」双轨驱动，娱乐流量与内容品牌并重。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Bilibili 首页内容总结  ·  2026-08-04  ·  数据来源 bilibili.com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09728" cy="822960"/>
          </a:xfrm>
          <a:prstGeom prst="rect">
            <a:avLst/>
          </a:prstGeom>
          <a:solidFill>
            <a:srgbClr val="FB7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ingFang SC"/>
                <a:ea typeface="PingFang SC"/>
              </a:rPr>
              <a:t>三、推荐视频题材地图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  <a:ea typeface="PingFang SC"/>
              </a:rPr>
              <a:t>五类内容构成首页信息流</a:t>
            </a:r>
          </a:p>
        </p:txBody>
      </p:sp>
      <p:pic>
        <p:nvPicPr>
          <p:cNvPr id="8" name="Picture 7" descr="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5707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10000"/>
            </a:avLst>
          </a:prstGeom>
          <a:solidFill>
            <a:srgbClr val="E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>推荐区题材多元：短视频梗向内容负责吸引停留；游戏与二创贡献头部播放；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>数码测评与影视解说丰富垂直深度；热点舆论以高信息密度标题进入推荐池。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PingFang SC"/>
                <a:ea typeface="PingFang SC"/>
              </a:rPr>
              <a:t>时长跨度大（约 1.5 分钟～40 分钟），同时适配碎片与中长观看场景。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Bilibili 首页内容总结  ·  2026-08-04  ·  数据来源 bilibili.com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09728" cy="822960"/>
          </a:xfrm>
          <a:prstGeom prst="rect">
            <a:avLst/>
          </a:prstGeom>
          <a:solidFill>
            <a:srgbClr val="FB7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ingFang SC"/>
                <a:ea typeface="PingFang SC"/>
              </a:rPr>
              <a:t>三、推荐亮点（上）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  <a:ea typeface="PingFang SC"/>
              </a:rPr>
              <a:t>娱乐生活 · 游戏二次元 · 科技数码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3657600" cy="4937760"/>
          </a:xfrm>
          <a:prstGeom prst="roundRect">
            <a:avLst>
              <a:gd name="adj" fmla="val 10000"/>
            </a:avLst>
          </a:prstGeom>
          <a:solidFill>
            <a:srgbClr val="FF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3657600" cy="502920"/>
          </a:xfrm>
          <a:prstGeom prst="rect">
            <a:avLst/>
          </a:prstGeom>
          <a:solidFill>
            <a:srgbClr val="FB7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娱乐与生活向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《大橘包中国汉堡！这名起的太逆天了》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  UP 转生成为毛毛 · 播放约 274.1 万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《当你穿进老钱班31》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  UP 侯绿萝 · 播放约 249.8 万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短视频风格鲜明、传播量高，体现生活趣味与网络流行话题的强曝光。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34440"/>
            <a:ext cx="3657600" cy="4937760"/>
          </a:xfrm>
          <a:prstGeom prst="roundRect">
            <a:avLst>
              <a:gd name="adj" fmla="val 10000"/>
            </a:avLst>
          </a:prstGeom>
          <a:solidFill>
            <a:srgbClr val="E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3657600" cy="502920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298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二次元 / 游戏向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9202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《海绵宝宝大战僵尸 day1…》· 310.4 万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《赛尔号超逆天阴间 BOSS！…》· 32 分钟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《涂鸦躲猫猫…》· 约 497.2 万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游戏、动画二创与轻量互动玩法仍是首页流量大户。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34440"/>
            <a:ext cx="3657600" cy="4937760"/>
          </a:xfrm>
          <a:prstGeom prst="roundRect">
            <a:avLst>
              <a:gd name="adj" fmla="val 10000"/>
            </a:avLst>
          </a:prstGeom>
          <a:solidFill>
            <a:srgbClr val="E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34440"/>
            <a:ext cx="3657600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298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科技数码与测评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9202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《只要 1199 元！540Hz 三模显示器…》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  UP FUN 科技 · 时长 05:57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硬核硬件测评出现在推荐前列，反映数码内容在推荐算法中的稳定占比。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Bilibili 首页内容总结  ·  2026-08-04  ·  数据来源 bilibili.com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09728" cy="822960"/>
          </a:xfrm>
          <a:prstGeom prst="rect">
            <a:avLst/>
          </a:prstGeom>
          <a:solidFill>
            <a:srgbClr val="FB7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ingFang SC"/>
                <a:ea typeface="PingFang SC"/>
              </a:rPr>
              <a:t>三、推荐亮点（下）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  <a:ea typeface="PingFang SC"/>
              </a:rPr>
              <a:t>影视解说 · 热点舆论 · 代表标题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486400" cy="4937760"/>
          </a:xfrm>
          <a:prstGeom prst="roundRect">
            <a:avLst>
              <a:gd name="adj" fmla="val 1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影视解说与故事向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代表作品：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· 《戏如人生》— 脱缰凯Kk · 65.5 万 · 04:00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· 《这 期 神 了！》— 潮汕好男人 · 68.4 万 · 01:26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· 《“康斯坦丁的这一口烟…”》— 漫漫电影大放送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· 《当年食神的话只有瑞幸认真听了！…》— 惊鸿讲故事 · 39:20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短剧感剪辑 + 电影片段解读，时长从约 1 分半到近 40 分钟，适配碎片与中长观看。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486400" cy="4937760"/>
          </a:xfrm>
          <a:prstGeom prst="roundRect">
            <a:avLst>
              <a:gd name="adj" fmla="val 10000"/>
            </a:avLst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4864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98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热点与舆论类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代表作品：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· 韩红身份传闻追踪长标题视频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  UP：事态后续追踪 · 播放约 3077 · 15:17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特征：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· 标题信息密度极高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· 播放量相对头部娱乐视频偏低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· 说明资讯 / 争议话题也会进入推荐池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与高粉娱乐向形成互补：前者拼传播，后者拼时效与话题。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Bilibili 首页内容总结  ·  2026-08-04  ·  数据来源 bilibili.com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09728" cy="822960"/>
          </a:xfrm>
          <a:prstGeom prst="rect">
            <a:avLst/>
          </a:prstGeom>
          <a:solidFill>
            <a:srgbClr val="FB7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ingFang SC"/>
                <a:ea typeface="PingFang SC"/>
              </a:rPr>
              <a:t>四、播放与互动表现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  <a:ea typeface="PingFang SC"/>
              </a:rPr>
              <a:t>头部内容与弹幕密度</a:t>
            </a:r>
          </a:p>
        </p:txBody>
      </p:sp>
      <p:pic>
        <p:nvPicPr>
          <p:cNvPr id="8" name="Picture 7" descr="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40200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280160"/>
            <a:ext cx="4114800" cy="48463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087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PingFang SC"/>
                <a:ea typeface="PingFang SC"/>
              </a:rPr>
              <a:t>关键观察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头部集中在百万～近五百万播放量级。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《大橘包中国汉堡》弹幕约 4544，互动密度高于部分更高播放量视频。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「播放量」≠「讨论热度」。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3–5 分钟短视频更易获得高完播与弹幕参与。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PingFang SC"/>
                <a:ea typeface="PingFang SC"/>
              </a:rPr>
              <a:t>Top 弹幕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大橘包中国汉堡 · 4544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戏如人生 · 2634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赛尔号 BOSS · 2113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Bilibili 首页内容总结  ·  2026-08-04  ·  数据来源 bilibili.com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09728" cy="822960"/>
          </a:xfrm>
          <a:prstGeom prst="rect">
            <a:avLst/>
          </a:prstGeom>
          <a:solidFill>
            <a:srgbClr val="FB7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ingFang SC"/>
                <a:ea typeface="PingFang SC"/>
              </a:rPr>
              <a:t>四、推荐视频标题清单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  <a:ea typeface="PingFang SC"/>
              </a:rPr>
              <a:t>含 UP 主 / 播放 / 时长（核心推荐区）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标题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704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UP主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170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播放量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1704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时长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481328"/>
            <a:ext cx="11247120" cy="3383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9961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1. 只要1199元！540Hz三模显示器…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996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FUN科技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4996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4.8万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149961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05:57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19656"/>
            <a:ext cx="11247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83794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2. 当你穿进老钱班31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3794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侯绿萝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8379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249.8万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18379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03:11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57984"/>
            <a:ext cx="11247120" cy="3383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7627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3. 大橘包中国汉堡！这名起的太逆天了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762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转生成为毛毛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1762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274.1万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1762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04:20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496312"/>
            <a:ext cx="11247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5146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4. 这 期 神 了！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146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潮汕好男人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514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68.4万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5146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01:26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34640"/>
            <a:ext cx="11247120" cy="3383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85292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5. 海绵宝宝大战僵尸day1，海绵宝宝射手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85292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铜锣戏语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8529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310.4万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28529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01:36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172968"/>
            <a:ext cx="11247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19125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6. 赛尔号超逆天阴间BOSS！…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1912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小狮子piano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1912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55.2万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31912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32:00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511296"/>
            <a:ext cx="11247120" cy="3383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52958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7. 戏如人生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52958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脱缰凯Kk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529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65.5万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35295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04:00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849624"/>
            <a:ext cx="11247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8679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8. 每次离开都故作轻松的样子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38679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阿猹T-T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38679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7.0万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386791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06:44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187952"/>
            <a:ext cx="11247120" cy="3383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20624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9. 韩红身份被全网打假…（长标题）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2062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事态后续追踪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42062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3077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4206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15:17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526280"/>
            <a:ext cx="11247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54456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10. 当年食神的话只有瑞幸认真听了！…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5445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惊鸿讲故事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95360" y="45445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7.6万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45445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39:20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864608"/>
            <a:ext cx="11247120" cy="3383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88289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11. “600分的学习劲头！”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48828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好课在线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488289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74.3万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49840" y="488289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202936"/>
            <a:ext cx="11247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522122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12. 涂鸦躲猫猫：当你还在一动不动…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52212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游小浪Game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52212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497.2万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22122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03:03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541264"/>
            <a:ext cx="11247120" cy="3383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555955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13. “康斯坦丁的这一口烟…”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55595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漫漫电影大放送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95360" y="55595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3.9万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49840" y="55595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23:48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879592"/>
            <a:ext cx="11247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589788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PingFang SC"/>
                <a:ea typeface="PingFang SC"/>
              </a:rPr>
              <a:t>14. 疯狂的铲子兄弟！…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58978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荒野生存挑战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95360" y="58978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1D6"/>
                </a:solidFill>
                <a:latin typeface="PingFang SC"/>
                <a:ea typeface="PingFang SC"/>
              </a:rPr>
              <a:t>21.3万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49840" y="58978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12:44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Bilibili 首页内容总结  ·  2026-08-04  ·  数据来源 bilibili.com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09728" cy="822960"/>
          </a:xfrm>
          <a:prstGeom prst="rect">
            <a:avLst/>
          </a:prstGeom>
          <a:solidFill>
            <a:srgbClr val="FB7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ingFang SC"/>
                <a:ea typeface="PingFang SC"/>
              </a:rPr>
              <a:t>五、其他首页模块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  <a:ea typeface="PingFang SC"/>
              </a:rPr>
              <a:t>直播 · 运营位 · 品类入口 · 广告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577840" cy="2286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137160" cy="2286000"/>
          </a:xfrm>
          <a:prstGeom prst="rect">
            <a:avLst/>
          </a:prstGeom>
          <a:solidFill>
            <a:srgbClr val="FB7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7299"/>
                </a:solidFill>
                <a:latin typeface="PingFang SC"/>
                <a:ea typeface="PingFang SC"/>
              </a:rPr>
              <a:t>直播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个人电台：爸妈不在家 偷偷播 · 小幼旺m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媒体直播：央视《新闻频道》· 央视网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作用：娱乐陪伴 + 时政资讯双入口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34440"/>
            <a:ext cx="5577840" cy="2286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137160" cy="2286000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A1D6"/>
                </a:solidFill>
                <a:latin typeface="PingFang SC"/>
                <a:ea typeface="PingFang SC"/>
              </a:rPr>
              <a:t>运营位 / 轮播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8745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「全网独家」地表最强打野出经验包啦！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就这个双强拉扯爽！他与她针锋相对！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始于欺骗的爱恋，该如何收场？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天下第一修仙大会？一人单挑全天下！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…等共 9 条，强钩子标题导流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5577840" cy="2286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37160" cy="2286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319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B59B6"/>
                </a:solidFill>
                <a:latin typeface="PingFang SC"/>
                <a:ea typeface="PingFang SC"/>
              </a:rPr>
              <a:t>品类入口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89119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番剧：青春猪头少年不会梦到兔女郎学姐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国创：1999！神秘学对策部 中配版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综艺：BML 2019 广州场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强化长视频 / 精品内容品牌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5577840" cy="2286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137160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9319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PingFang SC"/>
                <a:ea typeface="PingFang SC"/>
              </a:rPr>
              <a:t>广告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389119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豆包-更聪明的AI助手…（明确广告标识）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另有领克07GT 等商业/合作向文案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PingFang SC"/>
                <a:ea typeface="PingFang SC"/>
              </a:rPr>
              <a:t>与推荐流混排，可辨识度较高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Bilibili 首页内容总结  ·  2026-08-04  ·  数据来源 bilibili.com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09728" cy="822960"/>
          </a:xfrm>
          <a:prstGeom prst="rect">
            <a:avLst/>
          </a:prstGeom>
          <a:solidFill>
            <a:srgbClr val="FB7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PingFang SC"/>
                <a:ea typeface="PingFang SC"/>
              </a:rPr>
              <a:t>六、结论与建议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ingFang SC"/>
                <a:ea typeface="PingFang SC"/>
              </a:rPr>
              <a:t>首页形态归纳 · 后续分析方向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577840" cy="4846320"/>
          </a:xfrm>
          <a:prstGeom prst="roundRect">
            <a:avLst>
              <a:gd name="adj" fmla="val 10000"/>
            </a:avLst>
          </a:prstGeom>
          <a:solidFill>
            <a:srgbClr val="E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A1D6"/>
                </a:solidFill>
                <a:latin typeface="PingFang SC"/>
                <a:ea typeface="PingFang SC"/>
              </a:rPr>
              <a:t>核心结论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1. 首页呈「高娱乐、强话题、多时长」混合形态。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2. 短视频与梗向内容负责吸引停留；游戏与二创贡献头部播放。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3. 数码测评与影视解说丰富垂直深度。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4. 运营与广告位完成商业与内容导流。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5. 播放量与弹幕热度并不完全同步，需分指标解读。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34440"/>
            <a:ext cx="5394960" cy="4846320"/>
          </a:xfrm>
          <a:prstGeom prst="roundRect">
            <a:avLst>
              <a:gd name="adj" fmla="val 10000"/>
            </a:avLst>
          </a:prstGeom>
          <a:solidFill>
            <a:srgbClr val="FF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7299"/>
                </a:solidFill>
                <a:latin typeface="PingFang SC"/>
                <a:ea typeface="PingFang SC"/>
              </a:rPr>
              <a:t>后续建议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1. 固定账号 / 无登录态定时抓取，做时间序列对比。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2. 同步抓取「热门」榜与首页，对比算法差异。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3. 结合分区与标签做主题聚类与情感分析。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4. 用 Excel 明细作底稿扩展字段（BV号、链接、标签）。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PingFang SC"/>
                <a:ea typeface="PingFang SC"/>
              </a:rPr>
              <a:t>5. 若需更完整插图，可在登录态下补充分区与评论截图。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Bilibili 首页内容总结  ·  2026-08-04  ·  数据来源 bilibili.com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PingFang SC"/>
                <a:ea typeface="PingFang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PingFang SC"/>
                <a:ea typeface="PingFang SC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A1D6"/>
                </a:solidFill>
                <a:latin typeface="PingFang SC"/>
                <a:ea typeface="PingFang SC"/>
              </a:rPr>
              <a:t>相关文件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PingFang SC"/>
                <a:ea typeface="PingFang SC"/>
              </a:rPr>
              <a:t>bilibili_homepage_videos.xlsx  ·  bilibili_homepage_summary.docx  ·  bilibili_homepage_report.pptx
图表素材目录：ppt_assets/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PingFang SC"/>
                <a:ea typeface="PingFang SC"/>
              </a:rPr>
              <a:t>数据快照仅供参考 · 页面内容随推荐算法变化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