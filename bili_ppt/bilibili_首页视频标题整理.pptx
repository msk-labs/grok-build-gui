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视频数</c:v>
                </c:pt>
              </c:strCache>
            </c:strRef>
          </c:tx>
          <c:spPr>
            <a:solidFill>
              <a:srgbClr val="FB72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≤1 分钟</c:v>
                  </c:pt>
                  <c:pt idx="1">
                    <c:v>1–5 分钟</c:v>
                  </c:pt>
                  <c:pt idx="2">
                    <c:v>5–10 分钟</c:v>
                  </c:pt>
                  <c:pt idx="3">
                    <c:v>10–20 分钟</c:v>
                  </c:pt>
                  <c:pt idx="4">
                    <c:v>20 分钟以上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22</c:v>
                </c:pt>
                <c:pt idx="2">
                  <c:v>12</c:v>
                </c:pt>
                <c:pt idx="3">
                  <c:v>14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F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播放量（万）</c:v>
                </c:pt>
              </c:strCache>
            </c:strRef>
          </c:tx>
          <c:spPr>
            <a:solidFill>
              <a:srgbClr val="FB72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大庆赶海，大海退潮后发现…</c:v>
                  </c:pt>
                  <c:pt idx="1">
                    <c:v>我的世界硬核生存！【缆车…</c:v>
                  </c:pt>
                  <c:pt idx="2">
                    <c:v>中国人能飞</c:v>
                  </c:pt>
                  <c:pt idx="3">
                    <c:v>我做的成吉思鸡，加入18…</c:v>
                  </c:pt>
                  <c:pt idx="4">
                    <c:v>【独家】牧神记 第93集…</c:v>
                  </c:pt>
                  <c:pt idx="5">
                    <c:v>同时让10000入侵物种…</c:v>
                  </c:pt>
                  <c:pt idx="6">
                    <c:v>我们拍到了水下风暴</c:v>
                  </c:pt>
                  <c:pt idx="7">
                    <c:v>全新开箱！我居然买到了德…</c:v>
                  </c:pt>
                  <c:pt idx="8">
                    <c:v>在机密开972万的反应堆…</c:v>
                  </c:pt>
                  <c:pt idx="9">
                    <c:v>宗 主 连 携 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1067.3</c:v>
                </c:pt>
                <c:pt idx="1">
                  <c:v>862.4</c:v>
                </c:pt>
                <c:pt idx="2">
                  <c:v>723.3</c:v>
                </c:pt>
                <c:pt idx="3">
                  <c:v>564.1</c:v>
                </c:pt>
                <c:pt idx="4">
                  <c:v>544.7</c:v>
                </c:pt>
                <c:pt idx="5">
                  <c:v>541.6</c:v>
                </c:pt>
                <c:pt idx="6">
                  <c:v>539.3</c:v>
                </c:pt>
                <c:pt idx="7">
                  <c:v>522.8</c:v>
                </c:pt>
                <c:pt idx="8">
                  <c:v>520.1</c:v>
                </c:pt>
                <c:pt idx="9">
                  <c:v>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内容方向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7299"/>
              </a:solidFill>
              <a:effectLst/>
            </c:spPr>
          </c:dPt>
          <c:dPt>
            <c:idx val="1"/>
            <c:bubble3D val="0"/>
            <c:spPr>
              <a:solidFill>
                <a:srgbClr val="00AEEC"/>
              </a:solidFill>
              <a:effectLst/>
            </c:spPr>
          </c:dPt>
          <c:dPt>
            <c:idx val="2"/>
            <c:bubble3D val="0"/>
            <c:spPr>
              <a:solidFill>
                <a:srgbClr val="FFB03A"/>
              </a:solidFill>
              <a:effectLst/>
            </c:spPr>
          </c:dPt>
          <c:dPt>
            <c:idx val="3"/>
            <c:bubble3D val="0"/>
            <c:spPr>
              <a:solidFill>
                <a:srgbClr val="6C5CE7"/>
              </a:solidFill>
              <a:effectLst/>
            </c:spPr>
          </c:dPt>
          <c:dPt>
            <c:idx val="4"/>
            <c:bubble3D val="0"/>
            <c:spPr>
              <a:solidFill>
                <a:srgbClr val="00C48C"/>
              </a:solidFill>
              <a:effectLst/>
            </c:spPr>
          </c:dPt>
          <c:dPt>
            <c:idx val="5"/>
            <c:bubble3D val="0"/>
            <c:spPr>
              <a:solidFill>
                <a:srgbClr val="FF7A45"/>
              </a:solidFill>
              <a:effectLst/>
            </c:spPr>
          </c:dPt>
          <c:dPt>
            <c:idx val="6"/>
            <c:bubble3D val="0"/>
            <c:spPr>
              <a:solidFill>
                <a:srgbClr val="5B8FF9"/>
              </a:solidFill>
              <a:effectLst/>
            </c:spPr>
          </c:dPt>
          <c:dPt>
            <c:idx val="7"/>
            <c:bubble3D val="0"/>
            <c:spPr>
              <a:solidFill>
                <a:srgbClr val="F759AB"/>
              </a:solidFill>
              <a:effectLst/>
            </c:spPr>
          </c:dPt>
          <c:dPt>
            <c:idx val="8"/>
            <c:bubble3D val="0"/>
            <c:spPr>
              <a:solidFill>
                <a:srgbClr val="9254DE"/>
              </a:solidFill>
              <a:effectLst/>
            </c:spPr>
          </c:dPt>
          <c:dPt>
            <c:idx val="9"/>
            <c:bubble3D val="0"/>
            <c:spPr>
              <a:solidFill>
                <a:srgbClr val="36CFC9"/>
              </a:solidFill>
              <a:effectLst/>
            </c:spPr>
          </c:dPt>
          <c:dPt>
            <c:idx val="10"/>
            <c:bubble3D val="0"/>
            <c:spPr>
              <a:solidFill>
                <a:srgbClr val="FF9C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美食生活</c:v>
                </c:pt>
                <c:pt idx="1">
                  <c:v>娱乐鬼畜</c:v>
                </c:pt>
                <c:pt idx="2">
                  <c:v>知识科普</c:v>
                </c:pt>
                <c:pt idx="3">
                  <c:v>社会时政</c:v>
                </c:pt>
                <c:pt idx="4">
                  <c:v>动画二次元</c:v>
                </c:pt>
                <c:pt idx="5">
                  <c:v>音乐</c:v>
                </c:pt>
                <c:pt idx="6">
                  <c:v>影视解说</c:v>
                </c:pt>
                <c:pt idx="7">
                  <c:v>游戏</c:v>
                </c:pt>
                <c:pt idx="8">
                  <c:v>科技数码</c:v>
                </c:pt>
                <c:pt idx="9">
                  <c:v>汽车</c:v>
                </c:pt>
                <c:pt idx="10">
                  <c:v>体育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10</c:v>
                </c:pt>
                <c:pt idx="1">
                  <c:v>9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2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本页为封面。数据于 2026-08-04 从 bilibili 首页推荐流采集，共 60 条视频。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总播放、平均播放、点赞与平均时长四项汇总，右侧为时长分布的解读。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按播放量排序的前 10 条，标题在图表中做了截断，完整标题见后面的清单页。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按人工归类统计的内容方向分布，共 11 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以点赞量排序的前 6 条，代表首页中口碑最强的内容。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标题清单第 1 组，按播放量降序，序号 1–12。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标题清单第 2 组，按播放量降序，序号 13–24。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标题清单第 3 组，按播放量降序，序号 25–36。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标题清单第 4 组，按播放量降序，序号 37–48。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标题清单第 5 组，按播放量降序，序号 49–60。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四条基于标题文本与数据的观察结论。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FB729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108960" cy="3108960"/>
          </a:xfrm>
          <a:prstGeom prst="ellipse">
            <a:avLst/>
          </a:prstGeom>
          <a:solidFill>
            <a:srgbClr val="00AEE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01168" cy="20116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2984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· HOMEPAGE FEED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站首页视频标题整理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条首页推荐视频 · 标题 / UP 主 / 播放 / 时长 全量归档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条视频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036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1.32 亿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8036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总播放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2064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 UP 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3977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60920" y="4553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个内容方向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采集时间 2026-08-04 · 数据来自 bilibili 首页推荐流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首页这 60 条视频，长什么样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1.32 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总播放量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18745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219.4 万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66744" y="24688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单条平均播放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69164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745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549.7 万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64808" y="24688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总点赞数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34272" y="1691640"/>
            <a:ext cx="2578608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8745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7:35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62872" y="246888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时长中位数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时长分布</a:t>
            </a:r>
            <a:endParaRPr lang="en-US" sz="2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794760"/>
          <a:ext cx="6035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903720" y="3383280"/>
            <a:ext cx="4617720" cy="2788920"/>
          </a:xfrm>
          <a:prstGeom prst="roundRect">
            <a:avLst>
              <a:gd name="adj" fmla="val 2623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78040" y="3657600"/>
            <a:ext cx="310896" cy="310896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35240" y="3611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短视频占了小半壁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35240" y="39044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条在 5 分钟以内，首页推荐明显偏爱能一口气看完的内容。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78040" y="4526280"/>
            <a:ext cx="310896" cy="310896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5" name="Text 22"/>
          <p:cNvSpPr/>
          <p:nvPr/>
        </p:nvSpPr>
        <p:spPr>
          <a:xfrm>
            <a:off x="717804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35240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中视频仍是主力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635240" y="47731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5–20 分钟共 26 条，是解说、测评、Vlog 的主要长度区间。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178040" y="5394960"/>
            <a:ext cx="310896" cy="310896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9" name="Text 26"/>
          <p:cNvSpPr/>
          <p:nvPr/>
        </p:nvSpPr>
        <p:spPr>
          <a:xfrm>
            <a:off x="7178040" y="5394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35240" y="5349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长视频靠内容硬撑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35240" y="56418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条超过 20 分钟，多为影视解说与深度科普。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BY VIEWS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播放量最高的 10 条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4592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459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B1D24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播放冠军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2148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大庆赶海，大海退潮后发现大个的竹节蛏眼，撒上一点盐往外跑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   ·   1067.3 万 播放   ·   6:25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41148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42793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6177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 10 条合计 6314.6 万 播放，占全部的 48%。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头部集中度很高，长尾内容播放量差着一个数量级。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上榜的多是赶海、生存、鬼畜这类强钩子选题。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内容方向分布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72768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按数量排序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75120" y="2084832"/>
            <a:ext cx="182880" cy="182880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8" name="Text 5"/>
          <p:cNvSpPr/>
          <p:nvPr/>
        </p:nvSpPr>
        <p:spPr>
          <a:xfrm>
            <a:off x="6967728" y="2011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美食生活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67728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条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675120" y="2743200"/>
            <a:ext cx="182880" cy="182880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1" name="Text 8"/>
          <p:cNvSpPr/>
          <p:nvPr/>
        </p:nvSpPr>
        <p:spPr>
          <a:xfrm>
            <a:off x="6967728" y="2670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娱乐鬼畜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67728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条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5120" y="3401568"/>
            <a:ext cx="182880" cy="182880"/>
          </a:xfrm>
          <a:prstGeom prst="ellipse">
            <a:avLst/>
          </a:prstGeom>
          <a:solidFill>
            <a:srgbClr val="FFB03A"/>
          </a:solidFill>
          <a:ln/>
        </p:spPr>
      </p:sp>
      <p:sp>
        <p:nvSpPr>
          <p:cNvPr id="14" name="Text 11"/>
          <p:cNvSpPr/>
          <p:nvPr/>
        </p:nvSpPr>
        <p:spPr>
          <a:xfrm>
            <a:off x="6967728" y="33284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知识科普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67728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5120" y="4059936"/>
            <a:ext cx="182880" cy="1828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社会时政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67728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75120" y="4718304"/>
            <a:ext cx="182880" cy="182880"/>
          </a:xfrm>
          <a:prstGeom prst="ellipse">
            <a:avLst/>
          </a:prstGeom>
          <a:solidFill>
            <a:srgbClr val="00C48C"/>
          </a:solidFill>
          <a:ln/>
        </p:spPr>
      </p:sp>
      <p:sp>
        <p:nvSpPr>
          <p:cNvPr id="20" name="Text 17"/>
          <p:cNvSpPr/>
          <p:nvPr/>
        </p:nvSpPr>
        <p:spPr>
          <a:xfrm>
            <a:off x="6967728" y="4645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动画二次元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67728" y="4937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675120" y="5376672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3" name="Text 20"/>
          <p:cNvSpPr/>
          <p:nvPr/>
        </p:nvSpPr>
        <p:spPr>
          <a:xfrm>
            <a:off x="6967728" y="5303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音乐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67728" y="5596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条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189720" y="2084832"/>
            <a:ext cx="182880" cy="182880"/>
          </a:xfrm>
          <a:prstGeom prst="ellipse">
            <a:avLst/>
          </a:prstGeom>
          <a:solidFill>
            <a:srgbClr val="5B8FF9"/>
          </a:solidFill>
          <a:ln/>
        </p:spPr>
      </p:sp>
      <p:sp>
        <p:nvSpPr>
          <p:cNvPr id="26" name="Text 23"/>
          <p:cNvSpPr/>
          <p:nvPr/>
        </p:nvSpPr>
        <p:spPr>
          <a:xfrm>
            <a:off x="9482328" y="20116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影视解说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482328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条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89720" y="2743200"/>
            <a:ext cx="182880" cy="182880"/>
          </a:xfrm>
          <a:prstGeom prst="ellipse">
            <a:avLst/>
          </a:prstGeom>
          <a:solidFill>
            <a:srgbClr val="F759AB"/>
          </a:solidFill>
          <a:ln/>
        </p:spPr>
      </p:sp>
      <p:sp>
        <p:nvSpPr>
          <p:cNvPr id="29" name="Text 26"/>
          <p:cNvSpPr/>
          <p:nvPr/>
        </p:nvSpPr>
        <p:spPr>
          <a:xfrm>
            <a:off x="9482328" y="2670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482328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条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189720" y="3401568"/>
            <a:ext cx="182880" cy="182880"/>
          </a:xfrm>
          <a:prstGeom prst="ellipse">
            <a:avLst/>
          </a:prstGeom>
          <a:solidFill>
            <a:srgbClr val="9254DE"/>
          </a:solidFill>
          <a:ln/>
        </p:spPr>
      </p:sp>
      <p:sp>
        <p:nvSpPr>
          <p:cNvPr id="32" name="Text 29"/>
          <p:cNvSpPr/>
          <p:nvPr/>
        </p:nvSpPr>
        <p:spPr>
          <a:xfrm>
            <a:off x="9482328" y="33284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科技数码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482328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条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189720" y="4059936"/>
            <a:ext cx="182880" cy="182880"/>
          </a:xfrm>
          <a:prstGeom prst="ellipse">
            <a:avLst/>
          </a:prstGeom>
          <a:solidFill>
            <a:srgbClr val="36CFC9"/>
          </a:solidFill>
          <a:ln/>
        </p:spPr>
      </p:sp>
      <p:sp>
        <p:nvSpPr>
          <p:cNvPr id="35" name="Text 32"/>
          <p:cNvSpPr/>
          <p:nvPr/>
        </p:nvSpPr>
        <p:spPr>
          <a:xfrm>
            <a:off x="9482328" y="398678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482328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条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189720" y="4718304"/>
            <a:ext cx="182880" cy="182880"/>
          </a:xfrm>
          <a:prstGeom prst="ellipse">
            <a:avLst/>
          </a:prstGeom>
          <a:solidFill>
            <a:srgbClr val="FF9C6E"/>
          </a:solidFill>
          <a:ln/>
        </p:spPr>
      </p:sp>
      <p:sp>
        <p:nvSpPr>
          <p:cNvPr id="38" name="Text 35"/>
          <p:cNvSpPr/>
          <p:nvPr/>
        </p:nvSpPr>
        <p:spPr>
          <a:xfrm>
            <a:off x="9482328" y="4645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体育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9482328" y="4937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条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点赞最高的 6 条标题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20240"/>
            <a:ext cx="475488" cy="47548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6192" y="1847088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宗 主 连 携 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36192" y="250545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自动鬼畜中的WZ  ·  44.7 万 赞  ·  429.0 万 播放  ·  2:20  ·  娱乐鬼畜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1920240"/>
            <a:ext cx="475488" cy="475488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59752" y="1847088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我的世界硬核生存！【缆车末日惊变100天】p1 我被困在了充满丧尸的1千米高空缆车上！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9752" y="250545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Q弹的果冻c  ·  39.3 万 赞  ·  862.4 万 播放  ·  26:54  ·  游戏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8211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456432"/>
            <a:ext cx="475488" cy="47548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3383280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中国人能飞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36192" y="404164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鸡鸡·夫斯基  ·  39.2 万 赞  ·  723.3 万 播放  ·  1:27  ·  娱乐鬼畜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18211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3456432"/>
            <a:ext cx="475488" cy="475488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3383280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Again，但是 Life Goes 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59752" y="404164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181319  ·  35.5 万 赞  ·  363.1 万 播放  ·  2:08  ·  音乐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7183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992624"/>
            <a:ext cx="475488" cy="47548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" y="4992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36192" y="4919472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我们拍到了水下风暴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36192" y="557784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影视飓风  ·  34.6 万 赞  ·  539.3 万 播放  ·  24:48  ·  科技数码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7183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9672" y="4992624"/>
            <a:ext cx="475488" cy="475488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4992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59752" y="4919472"/>
            <a:ext cx="4178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大庆赶海，大海退潮后发现大个的竹节蛏眼，撒上一点盐往外跑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59752" y="557784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  ·  21.0 万 赞  ·  1067.3 万 播放  ·  6:25  ·  美食生活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LIST 1 /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完整标题清单 · 第 1 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大庆赶海，大海退潮后发现大个的竹节蛏眼，撒上一点盐往外跑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大庆赶海  ·  1067.3 万 播放  ·  6:25  ·  美食生活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我的世界硬核生存！【缆车末日惊变100天】p1 我被困在了充满丧尸的1千米高空缆车上！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Q弹的果冻c  ·  862.4 万 播放  ·  26:54  ·  游戏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中国人能飞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鸡鸡·夫斯基  ·  723.3 万 播放  ·  1:27  ·  娱乐鬼畜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我做的成吉思鸡，加入18种香料，太好吃啦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咸鱼梦想家vlog  ·  564.1 万 播放  ·  4:44  ·  美食生活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【独家】牧神记 第93集 弑帝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哔哩哔哩国创  ·  544.7 万 播放  ·  21:57  ·  动画二次元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同时让10000入侵物种，进行大混战，最终能否决出入侵之王？！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蔡武年  ·  541.6 万 播放  ·  8:57  ·  知识科普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我们拍到了水下风暴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影视飓风  ·  539.3 万 播放  ·  24:48  ·  科技数码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全新开箱！我居然买到了德军的HK G28精确射手步枪？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JaegerZ999官方账号  ·  522.8 万 播放  ·  7:19  ·  知识科普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在机密开972万的反应堆总控核心！爆率究竟会怎样？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哈基蜂三角洲行动  ·  520.1 万 播放  ·  11:25  ·  游戏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宗 主 连 携 技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自动鬼畜中的WZ  ·  429.0 万 播放  ·  2:20  ·  娱乐鬼畜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大坏狐狸的故事抽象中配 大结局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Coulson不讲李  ·  423.1 万 播放  ·  3:44  ·  娱乐鬼畜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《我落泪情绪零碎》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王濛  ·  407.1 万 播放  ·  4:53  ·  娱乐鬼畜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LIST 2 /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完整标题清单 · 第 2 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请不要乱剪动物世界之河狸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无心科普动物  ·  376.9 万 播放  ·  3:12  ·  知识科普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当医学生去医院看病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无奈の老王君  ·  374.6 万 播放  ·  1:11  ·  美食生活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 Again，但是 Life Goes 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181319  ·  363.1 万 播放  ·  2:08  ·  音乐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我用AI杀死了史上最难的跑步游戏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林亦LYi  ·  358.0 万 播放  ·  14:50  ·  科技数码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中国人能飞是什么梗【梗指南】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梗指南  ·  355.6 万 播放  ·  1:40  ·  娱乐鬼畜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租几颗上亿元的卫星，能拍到什么？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影视飓风  ·  332.8 万 播放  ·  10:35  ·  科技数码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《体育界来了一位天才》《人类群星闪耀时》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人类早期纪录片  ·  330.8 万 播放  ·  3:23  ·  娱乐鬼畜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【东倾】《低智商犯罪》解说第一期：全员发癫，爆笑不断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东倾电影  ·  294.9 万 播放  ·  52:07  ·  影视解说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露思直播亏钱学，鹿晗霸榜热搜夜，三代又再次暴击时尚界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接二连珊妄想症  ·  284.1 万 播放  ·  13:24  ·  娱乐鬼畜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【独家】牧神记 第94集预告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哔哩哔哩国创  ·  244.2 万 播放  ·  0:48  ·  动画二次元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华强买瓜，但摄影师是新手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伊介书生  ·  228.7 万 播放  ·  3:16  ·  娱乐鬼畜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我回答了菲尔兹奖得主的问题。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二次元的中科院物理所  ·  190.9 万 播放  ·  1:30  ·  知识科普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LIST 3 /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完整标题清单 · 第 3 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当我在荷兰弟面前用唢呐吹蜘蛛侠主题曲【蛛联B合】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浑元Rysn  ·  163.5 万 播放  ·  3:58  ·  音乐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郝 哥 面 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乌贼酱  ·  146.0 万 播放  ·  3:27  ·  娱乐鬼畜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“你我 怎么两清 怎么做回甲乙丙丁.”|《甲乙丙丁》0.97x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一支yuuu  ·  139.0 万 播放  ·  3:47  ·  音乐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大爷30支枪+1万发弹药对抗银行没收房产，警员开装甲车碾压3次为同事报仇！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爱看热闹的大鹏  ·  126.7 万 播放  ·  13:08  ·  社会时政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这是电气工程中最可怕的图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Veritasium真理元素  ·  107.8 万 播放  ·  37:31  ·  知识科普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来看新车！小米澎程N90首发体验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所长Wy  ·  105.6 万 播放  ·  8:19  ·  汽车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【苏新皓】囍 solo直拍 梦寐以求青岛演唱会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Renaissance苏新皓  ·  100.7 万 播放  ·  5:14  ·  音乐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《蜘蛛侠:崭新之日》万字解析！132个彩蛋&amp;细节&amp;结局分析！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超英队长  ·  98.0 万 播放  ·  27:03  ·  影视解说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花重金凑齐全球17款可乐，喝起来差距到底有多离谱？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记录生活的蛋黄派  ·  97.4 万 播放  ·  6:57  ·  美食生活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【太君の噩梦】造谣成吉思汗和杨贵妃都是日本人，日本野史比你想象中更夸张！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世界大抬杠  ·  90.7 万 播放  ·  16:23  ·  知识科普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探秘印度国宴！一顿饭2万？阿三国宴到底有多离谱？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子文又饿了  ·  86.6 万 播放  ·  11:38  ·  美食生活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知了猴有啥好吃的？全中国最好吃虫子大盘点！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浪花姜  ·  85.7 万 播放  ·  25:48  ·  美食生活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LIST 4 /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完整标题清单 · 第 4 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食人狂魔！究极变态！耗时1年最细最全，地球上最著名的食人魔《汉尼拔》全三季解说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谁是阿WAI  ·  69.3 万 播放  ·  16:59:52  ·  影视解说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可是她叫我同志诶｜“同志你好，欢迎来到未来”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o小庄o  ·  66.4 万 播放  ·  4:14  ·  社会时政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和我恋爱的条件是......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伢伢gagako  ·  65.8 万 播放  ·  1:06  ·  美食生活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【老鼠人行动】航天基地（绝密）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老飞宇66  ·  65.6 万 播放  ·  4:12  ·  游戏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不玩手机的10分钟，做什么最赚？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本子在隔壁  ·  63.1 万 播放  ·  10:24  ·  美食生活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MC的某些附魔属性究竟有多少冷知识？！！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-恒某人-  ·  58.1 万 播放  ·  5:38  ·  游戏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青梅被毒杀，他娶仇人之女隐忍多年灭敌满门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孙熙然  ·  55.5 万 播放  ·  10:35  ·  影视解说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世事纷繁，难有一直顺遂，但总有人会递给你一束花。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夏果夏果  ·  54.6 万 播放  ·  8:35  ·  美食生活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【同人动画】耗时1.5年手搓还原无限城 猗窝座•登场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Fusilade_炮弹雨  ·  53.8 万 播放  ·  4:08  ·  动画二次元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这个火爆全网的男人，到底是谁？现状如何？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水智风  ·  49.6 万 播放  ·  7:51  ·  社会时政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真相，给我编好了呀！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吟游诗人AT  ·  42.1 万 播放  ·  13:32  ·  影视解说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首次公开！机器狼扛火箭筒抢滩！解放军告别人海冲锋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新西兰三妹Summer  ·  36.8 万 播放  ·  1:40:03  ·  社会时政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LIST 5 /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完整标题清单 · 第 5 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曾经的浪漫老歌，为何变成了恐怖片中的疯感BGM？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琛哥音乐电台  ·  34.7 万 播放  ·  11:15  ·  音乐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你长大了，讲话不要有奴才之相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阿强动画丶  ·  31.7 万 播放  ·  7:16  ·  动画二次元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年马计划第365天乌鲁木齐（2）第365个连续全程马拉松顺利结束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堂主lee  ·  28.9 万 播放  ·  2:53  ·  体育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【杂谈】术力口为什么越来越低龄化？圈子的风气该改改了！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PCKCOOL  ·  28.4 万 播放  ·  6:02  ·  音乐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今天体验副本笔记自己的人生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副本笔记  ·  26.8 万 播放  ·  11:40  ·  美食生活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那四姐小羊我爱上灰原哀，难道也完了？茵蒂克丝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4姐小羊  ·  22.7 万 播放  ·  1:47  ·  动画二次元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1627632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2.6吨，真的还是莲花吗？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299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极速拍档-Jacky  ·  19.4 万 播放  ·  14:50  ·  汽车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2423160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2368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警方连夜出动，抓捕了103名鬼火少年并缴获了61辆电动！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282549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桉慕然  ·  17.2 万 播放  ·  9:30  ·  社会时政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3218688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1638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全网唯一！NBA纯实力历史前十（进攻篇）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36210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诸葛墨镜  ·  16.2 万 播放  ·  20:25  ·  体育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63640" y="4014216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39593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美国领导人一直在拼命向美国人隐瞒真实的中国——我在哈尔滨彻底被震撼了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44165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ThatEvanGuy  ·  10.8 万 播放  ·  28:06  ·  社会时政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9744"/>
            <a:ext cx="329184" cy="32918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在马尔代夫出cos！泳装芭芭拉～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5212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呜哝哝  ·  9.7 万 播放  ·  1:22  ·  动画二次元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5605272"/>
            <a:ext cx="329184" cy="32918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5605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5550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2万欧战车，整顿纽北～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60076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键盘车神教  ·  8.2 万 播放  ·  14:40  ·  汽车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55448" cy="155448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从这批标题里看到的四件事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11680"/>
            <a:ext cx="512064" cy="51206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27632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标题几乎都在设问或制造反差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27632" y="25877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“到底有多离谱？”“究竟是谁？”——疑问句和夸张对比是首页标题最通用的开场方式。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011680"/>
            <a:ext cx="512064" cy="51206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51192" y="19659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数字是最硬的钩子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51192" y="258775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 个入侵物种、365 天马拉松、132 个彩蛋，具体数字比形容词更容易让人点进去。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60520"/>
            <a:ext cx="512064" cy="512064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27632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美食生活与娱乐鬼畜撑起了推荐流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27632" y="4736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两类合计 19 条，接近总量的三分之一，是首页最稳的基本盘。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7F8FA"/>
          </a:solidFill>
          <a:ln w="9525">
            <a:solidFill>
              <a:srgbClr val="E7E9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4160520"/>
            <a:ext cx="512064" cy="512064"/>
          </a:xfrm>
          <a:prstGeom prst="ellipse">
            <a:avLst/>
          </a:prstGeom>
          <a:solidFill>
            <a:srgbClr val="00AE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160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51192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长内容并不吃亏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51192" y="4736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 20 分钟的解说与科普照样进首页，前提是选题足够具体、足够垂直。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 首页推荐 · 2026-08-04 采集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754880" cy="4754880"/>
          </a:xfrm>
          <a:prstGeom prst="ellipse">
            <a:avLst/>
          </a:prstGeom>
          <a:solidFill>
            <a:srgbClr val="00AEE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097280"/>
            <a:ext cx="4206240" cy="4206240"/>
          </a:xfrm>
          <a:prstGeom prst="ellipse">
            <a:avLst/>
          </a:prstGeom>
          <a:solidFill>
            <a:srgbClr val="FB72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以上就是这一屏首页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条标题、58 位 UP 主、1.32 亿 次播放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64592" cy="164592"/>
          </a:xfrm>
          <a:prstGeom prst="ellipse">
            <a:avLst/>
          </a:prstGeom>
          <a:solidFill>
            <a:srgbClr val="FB7299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8953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数据采集自 bilibili 首页推荐流 · 2026-08-04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站首页视频标题整理</dc:title>
  <dc:subject>PptxGenJS Presentation</dc:subject>
  <dc:creator>B 站首页速览</dc:creator>
  <cp:lastModifiedBy>B 站首页速览</cp:lastModifiedBy>
  <cp:revision>1</cp:revision>
  <dcterms:created xsi:type="dcterms:W3CDTF">2026-08-04T06:52:08Z</dcterms:created>
  <dcterms:modified xsi:type="dcterms:W3CDTF">2026-08-04T06:52:08Z</dcterms:modified>
</cp:coreProperties>
</file>